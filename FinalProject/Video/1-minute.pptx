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3" r:id="rId4"/>
    <p:sldId id="267" r:id="rId5"/>
    <p:sldId id="266" r:id="rId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4F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85"/>
    <p:restoredTop sz="73135"/>
  </p:normalViewPr>
  <p:slideViewPr>
    <p:cSldViewPr snapToGrid="0">
      <p:cViewPr>
        <p:scale>
          <a:sx n="81" d="100"/>
          <a:sy n="81" d="100"/>
        </p:scale>
        <p:origin x="12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DCC2D2-99A9-5D41-A810-0B13B6D72CBF}" type="datetimeFigureOut">
              <a:rPr lang="da-DK" smtClean="0"/>
              <a:t>18.04.2026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895BEE-8173-384D-89BD-C9DE6144B18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85987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95BEE-8173-384D-89BD-C9DE6144B184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24840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3D114-7DBA-3336-2B64-BB430DBF1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CF15AFFC-EAA8-B358-CF24-9D76A9A59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FFE07B1F-D812-C640-4DC1-F392220C9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Housing</a:t>
            </a:r>
            <a:r>
              <a:rPr lang="da-DK" dirty="0"/>
              <a:t> </a:t>
            </a:r>
            <a:r>
              <a:rPr lang="da-DK" dirty="0" err="1"/>
              <a:t>prices</a:t>
            </a:r>
            <a:r>
              <a:rPr lang="da-DK" dirty="0"/>
              <a:t> in Denmark </a:t>
            </a:r>
            <a:r>
              <a:rPr lang="da-DK" dirty="0" err="1"/>
              <a:t>vary</a:t>
            </a:r>
            <a:r>
              <a:rPr lang="da-DK" dirty="0"/>
              <a:t> </a:t>
            </a:r>
            <a:r>
              <a:rPr lang="da-DK" dirty="0" err="1"/>
              <a:t>significantly</a:t>
            </a:r>
            <a:r>
              <a:rPr lang="da-DK" dirty="0"/>
              <a:t> </a:t>
            </a:r>
            <a:r>
              <a:rPr lang="da-DK" dirty="0" err="1"/>
              <a:t>across</a:t>
            </a:r>
            <a:r>
              <a:rPr lang="da-DK" dirty="0"/>
              <a:t> </a:t>
            </a:r>
            <a:r>
              <a:rPr lang="da-DK" dirty="0" err="1"/>
              <a:t>municipalities</a:t>
            </a:r>
            <a:r>
              <a:rPr lang="da-DK" dirty="0"/>
              <a:t> and regions. This </a:t>
            </a:r>
            <a:r>
              <a:rPr lang="da-DK" dirty="0" err="1"/>
              <a:t>project</a:t>
            </a:r>
            <a:r>
              <a:rPr lang="da-DK" dirty="0"/>
              <a:t> </a:t>
            </a:r>
            <a:r>
              <a:rPr lang="da-DK" dirty="0" err="1"/>
              <a:t>examines</a:t>
            </a:r>
            <a:r>
              <a:rPr lang="da-DK" dirty="0"/>
              <a:t> </a:t>
            </a:r>
            <a:r>
              <a:rPr lang="da-DK" dirty="0" err="1"/>
              <a:t>whether</a:t>
            </a:r>
            <a:r>
              <a:rPr lang="da-DK" dirty="0"/>
              <a:t> </a:t>
            </a:r>
            <a:r>
              <a:rPr lang="da-DK" dirty="0" err="1"/>
              <a:t>affordability</a:t>
            </a:r>
            <a:r>
              <a:rPr lang="da-DK" dirty="0"/>
              <a:t> is </a:t>
            </a:r>
            <a:r>
              <a:rPr lang="da-DK" dirty="0" err="1"/>
              <a:t>diverging</a:t>
            </a:r>
            <a:r>
              <a:rPr lang="da-DK" dirty="0"/>
              <a:t> </a:t>
            </a:r>
            <a:r>
              <a:rPr lang="da-DK" dirty="0" err="1"/>
              <a:t>between</a:t>
            </a:r>
            <a:r>
              <a:rPr lang="da-DK" dirty="0"/>
              <a:t> urban and rural </a:t>
            </a:r>
            <a:r>
              <a:rPr lang="da-DK" dirty="0" err="1"/>
              <a:t>areas</a:t>
            </a:r>
            <a:r>
              <a:rPr lang="da-DK" dirty="0"/>
              <a:t>, as </a:t>
            </a:r>
            <a:r>
              <a:rPr lang="da-DK" dirty="0" err="1"/>
              <a:t>these</a:t>
            </a:r>
            <a:r>
              <a:rPr lang="da-DK" dirty="0"/>
              <a:t> differences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reveal</a:t>
            </a:r>
            <a:r>
              <a:rPr lang="da-DK" dirty="0"/>
              <a:t> growing regional </a:t>
            </a:r>
            <a:r>
              <a:rPr lang="da-DK" dirty="0" err="1"/>
              <a:t>inequality</a:t>
            </a:r>
            <a:r>
              <a:rPr lang="da-DK" dirty="0"/>
              <a:t> and </a:t>
            </a:r>
            <a:r>
              <a:rPr lang="da-DK" dirty="0" err="1"/>
              <a:t>broader</a:t>
            </a:r>
            <a:r>
              <a:rPr lang="da-DK" dirty="0"/>
              <a:t> </a:t>
            </a:r>
            <a:r>
              <a:rPr lang="da-DK" dirty="0" err="1"/>
              <a:t>socioeconomic</a:t>
            </a:r>
            <a:r>
              <a:rPr lang="da-DK" dirty="0"/>
              <a:t> trends.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5B146F2-8271-560D-CCD0-6C457D130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95BEE-8173-384D-89BD-C9DE6144B184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83546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B083B-684B-C23A-7284-91ED5C896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CA1DB846-0C98-4B0C-C14B-4591ADA6E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7A9DDC85-9558-20BD-D505-D3E240D26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combine</a:t>
            </a:r>
            <a:r>
              <a:rPr lang="da-DK" dirty="0"/>
              <a:t> </a:t>
            </a:r>
            <a:r>
              <a:rPr lang="da-DK" dirty="0" err="1"/>
              <a:t>three</a:t>
            </a:r>
            <a:r>
              <a:rPr lang="da-DK" dirty="0"/>
              <a:t> datasets: </a:t>
            </a:r>
            <a:r>
              <a:rPr lang="da-DK" dirty="0" err="1"/>
              <a:t>housing</a:t>
            </a:r>
            <a:r>
              <a:rPr lang="da-DK" dirty="0"/>
              <a:t> </a:t>
            </a:r>
            <a:r>
              <a:rPr lang="da-DK" dirty="0" err="1"/>
              <a:t>transactions</a:t>
            </a:r>
            <a:r>
              <a:rPr lang="da-DK" dirty="0"/>
              <a:t> from 2008 to 2024 with </a:t>
            </a:r>
            <a:r>
              <a:rPr lang="da-DK" dirty="0" err="1"/>
              <a:t>about</a:t>
            </a:r>
            <a:r>
              <a:rPr lang="da-DK" dirty="0"/>
              <a:t> 1.5 million sales, </a:t>
            </a:r>
            <a:r>
              <a:rPr lang="da-DK" dirty="0" err="1"/>
              <a:t>municipal</a:t>
            </a:r>
            <a:r>
              <a:rPr lang="da-DK" dirty="0"/>
              <a:t> </a:t>
            </a:r>
            <a:r>
              <a:rPr lang="da-DK" dirty="0" err="1"/>
              <a:t>income</a:t>
            </a:r>
            <a:r>
              <a:rPr lang="da-DK" dirty="0"/>
              <a:t> data and population data with </a:t>
            </a:r>
            <a:r>
              <a:rPr lang="da-DK" dirty="0" err="1"/>
              <a:t>about</a:t>
            </a:r>
            <a:r>
              <a:rPr lang="da-DK" dirty="0"/>
              <a:t> 1600 </a:t>
            </a:r>
            <a:r>
              <a:rPr lang="da-DK" dirty="0" err="1"/>
              <a:t>rows</a:t>
            </a:r>
            <a:r>
              <a:rPr lang="da-DK" dirty="0"/>
              <a:t> </a:t>
            </a:r>
            <a:r>
              <a:rPr lang="da-DK" dirty="0" err="1"/>
              <a:t>each</a:t>
            </a:r>
            <a:r>
              <a:rPr lang="da-DK" dirty="0"/>
              <a:t>. The dataset covers all Danish </a:t>
            </a:r>
            <a:r>
              <a:rPr lang="da-DK" dirty="0" err="1"/>
              <a:t>municipalities</a:t>
            </a:r>
            <a:r>
              <a:rPr lang="da-DK" dirty="0"/>
              <a:t> over time and </a:t>
            </a:r>
            <a:r>
              <a:rPr lang="da-DK" dirty="0" err="1"/>
              <a:t>includes</a:t>
            </a:r>
            <a:r>
              <a:rPr lang="da-DK" dirty="0"/>
              <a:t> variables like </a:t>
            </a:r>
            <a:r>
              <a:rPr lang="da-DK" dirty="0" err="1"/>
              <a:t>prices</a:t>
            </a:r>
            <a:r>
              <a:rPr lang="da-DK" dirty="0"/>
              <a:t>, </a:t>
            </a:r>
            <a:r>
              <a:rPr lang="da-DK" dirty="0" err="1"/>
              <a:t>interest</a:t>
            </a:r>
            <a:r>
              <a:rPr lang="da-DK" dirty="0"/>
              <a:t> rates, </a:t>
            </a:r>
            <a:r>
              <a:rPr lang="da-DK" dirty="0" err="1"/>
              <a:t>number</a:t>
            </a:r>
            <a:r>
              <a:rPr lang="da-DK" dirty="0"/>
              <a:t> of sales, </a:t>
            </a:r>
            <a:r>
              <a:rPr lang="da-DK" dirty="0" err="1"/>
              <a:t>income</a:t>
            </a:r>
            <a:r>
              <a:rPr lang="da-DK" dirty="0"/>
              <a:t>, and population.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1E7E8F1-E3FE-248D-72F9-200C13E3CD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95BEE-8173-384D-89BD-C9DE6144B184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10764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0A234-F29E-463E-97AF-7F971ADB6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0B408019-1CE6-3A77-A93C-7D58E6EB9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EFEB1C88-9CCD-FCCA-AAE4-0CB8D22A3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want</a:t>
            </a:r>
            <a:r>
              <a:rPr lang="da-DK" dirty="0"/>
              <a:t> to </a:t>
            </a:r>
            <a:r>
              <a:rPr lang="da-DK" dirty="0" err="1"/>
              <a:t>build</a:t>
            </a:r>
            <a:r>
              <a:rPr lang="da-DK" dirty="0"/>
              <a:t> a Martini Glass–</a:t>
            </a:r>
            <a:r>
              <a:rPr lang="da-DK" dirty="0" err="1"/>
              <a:t>structured</a:t>
            </a:r>
            <a:r>
              <a:rPr lang="da-DK" dirty="0"/>
              <a:t> webpage, as This </a:t>
            </a:r>
            <a:r>
              <a:rPr lang="da-DK" dirty="0" err="1"/>
              <a:t>helps</a:t>
            </a:r>
            <a:r>
              <a:rPr lang="da-DK" dirty="0"/>
              <a:t> </a:t>
            </a:r>
            <a:r>
              <a:rPr lang="da-DK" dirty="0" err="1"/>
              <a:t>communicate</a:t>
            </a:r>
            <a:r>
              <a:rPr lang="da-DK" dirty="0"/>
              <a:t> a </a:t>
            </a:r>
            <a:r>
              <a:rPr lang="da-DK" dirty="0" err="1"/>
              <a:t>complex</a:t>
            </a:r>
            <a:r>
              <a:rPr lang="da-DK" dirty="0"/>
              <a:t> </a:t>
            </a:r>
            <a:r>
              <a:rPr lang="da-DK" dirty="0" err="1"/>
              <a:t>socioeconomic</a:t>
            </a:r>
            <a:r>
              <a:rPr lang="da-DK" dirty="0"/>
              <a:t> story in an </a:t>
            </a:r>
            <a:r>
              <a:rPr lang="da-DK" dirty="0" err="1"/>
              <a:t>accessible</a:t>
            </a:r>
            <a:r>
              <a:rPr lang="da-DK" dirty="0"/>
              <a:t> and </a:t>
            </a:r>
            <a:r>
              <a:rPr lang="da-DK" dirty="0" err="1"/>
              <a:t>interactive</a:t>
            </a:r>
            <a:r>
              <a:rPr lang="da-DK" dirty="0"/>
              <a:t> </a:t>
            </a:r>
            <a:r>
              <a:rPr lang="da-DK" dirty="0" err="1"/>
              <a:t>way</a:t>
            </a:r>
            <a:r>
              <a:rPr lang="da-DK" dirty="0"/>
              <a:t>. </a:t>
            </a:r>
          </a:p>
          <a:p>
            <a:r>
              <a:rPr lang="da-DK" dirty="0" err="1"/>
              <a:t>We</a:t>
            </a:r>
            <a:r>
              <a:rPr lang="da-DK" dirty="0"/>
              <a:t> start with a </a:t>
            </a:r>
            <a:r>
              <a:rPr lang="da-DK" dirty="0" err="1"/>
              <a:t>guided</a:t>
            </a:r>
            <a:r>
              <a:rPr lang="da-DK" dirty="0"/>
              <a:t> national overview of </a:t>
            </a:r>
            <a:r>
              <a:rPr lang="da-DK" dirty="0" err="1"/>
              <a:t>housing</a:t>
            </a:r>
            <a:r>
              <a:rPr lang="da-DK" dirty="0"/>
              <a:t> </a:t>
            </a:r>
            <a:r>
              <a:rPr lang="da-DK" dirty="0" err="1"/>
              <a:t>affordability</a:t>
            </a:r>
            <a:r>
              <a:rPr lang="da-DK" dirty="0"/>
              <a:t> in Denmark, </a:t>
            </a:r>
            <a:r>
              <a:rPr lang="da-DK" dirty="0" err="1"/>
              <a:t>then</a:t>
            </a:r>
            <a:r>
              <a:rPr lang="da-DK" dirty="0"/>
              <a:t> transition </a:t>
            </a:r>
            <a:r>
              <a:rPr lang="da-DK" dirty="0" err="1"/>
              <a:t>into</a:t>
            </a:r>
            <a:r>
              <a:rPr lang="da-DK" dirty="0"/>
              <a:t> an </a:t>
            </a:r>
            <a:r>
              <a:rPr lang="da-DK" dirty="0" err="1"/>
              <a:t>interactive</a:t>
            </a:r>
            <a:r>
              <a:rPr lang="da-DK" dirty="0"/>
              <a:t> </a:t>
            </a:r>
            <a:r>
              <a:rPr lang="da-DK" dirty="0" err="1"/>
              <a:t>section</a:t>
            </a:r>
            <a:r>
              <a:rPr lang="da-DK" dirty="0"/>
              <a:t> </a:t>
            </a:r>
            <a:r>
              <a:rPr lang="da-DK" dirty="0" err="1"/>
              <a:t>where</a:t>
            </a:r>
            <a:r>
              <a:rPr lang="da-DK" dirty="0"/>
              <a:t> users </a:t>
            </a:r>
            <a:r>
              <a:rPr lang="da-DK" dirty="0" err="1"/>
              <a:t>explore</a:t>
            </a:r>
            <a:r>
              <a:rPr lang="da-DK" dirty="0"/>
              <a:t> and </a:t>
            </a:r>
            <a:r>
              <a:rPr lang="da-DK" dirty="0" err="1"/>
              <a:t>learn</a:t>
            </a:r>
            <a:r>
              <a:rPr lang="da-DK" dirty="0"/>
              <a:t> </a:t>
            </a:r>
            <a:r>
              <a:rPr lang="da-DK" dirty="0" err="1"/>
              <a:t>about</a:t>
            </a:r>
            <a:r>
              <a:rPr lang="da-DK" dirty="0"/>
              <a:t> regional differences in </a:t>
            </a:r>
            <a:r>
              <a:rPr lang="da-DK" dirty="0" err="1"/>
              <a:t>prices</a:t>
            </a:r>
            <a:r>
              <a:rPr lang="da-DK" dirty="0"/>
              <a:t>, </a:t>
            </a:r>
            <a:r>
              <a:rPr lang="da-DK" dirty="0" err="1"/>
              <a:t>income</a:t>
            </a:r>
            <a:r>
              <a:rPr lang="da-DK" dirty="0"/>
              <a:t>, and </a:t>
            </a:r>
            <a:r>
              <a:rPr lang="da-DK" dirty="0" err="1"/>
              <a:t>affordability</a:t>
            </a:r>
            <a:r>
              <a:rPr lang="da-DK" dirty="0"/>
              <a:t>. 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AFF32E4-E9AF-4078-9625-65477EFC8B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95BEE-8173-384D-89BD-C9DE6144B184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62608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3E0A-08D9-AA9D-3540-53D8E3935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709900B-300C-ED71-9C79-27FC61832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8F12B33-8A9D-F430-0DE4-D996094F6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The Capital Region </a:t>
            </a:r>
            <a:r>
              <a:rPr lang="da-DK" dirty="0" err="1"/>
              <a:t>becomes</a:t>
            </a:r>
            <a:r>
              <a:rPr lang="da-DK" dirty="0"/>
              <a:t> </a:t>
            </a:r>
            <a:r>
              <a:rPr lang="da-DK" dirty="0" err="1"/>
              <a:t>increasingly</a:t>
            </a:r>
            <a:r>
              <a:rPr lang="da-DK" dirty="0"/>
              <a:t> </a:t>
            </a:r>
            <a:r>
              <a:rPr lang="da-DK" dirty="0" err="1"/>
              <a:t>expensive</a:t>
            </a:r>
            <a:r>
              <a:rPr lang="da-DK" dirty="0"/>
              <a:t> relative to </a:t>
            </a:r>
            <a:r>
              <a:rPr lang="da-DK" dirty="0" err="1"/>
              <a:t>income</a:t>
            </a:r>
            <a:r>
              <a:rPr lang="da-DK" dirty="0"/>
              <a:t>, </a:t>
            </a:r>
            <a:r>
              <a:rPr lang="da-DK" dirty="0" err="1"/>
              <a:t>while</a:t>
            </a:r>
            <a:r>
              <a:rPr lang="da-DK" dirty="0"/>
              <a:t> </a:t>
            </a:r>
            <a:r>
              <a:rPr lang="da-DK" dirty="0" err="1"/>
              <a:t>other</a:t>
            </a:r>
            <a:r>
              <a:rPr lang="da-DK" dirty="0"/>
              <a:t> regions </a:t>
            </a:r>
            <a:r>
              <a:rPr lang="da-DK" dirty="0" err="1"/>
              <a:t>remain</a:t>
            </a:r>
            <a:r>
              <a:rPr lang="da-DK" dirty="0"/>
              <a:t> stable or </a:t>
            </a:r>
            <a:r>
              <a:rPr lang="da-DK" dirty="0" err="1"/>
              <a:t>even</a:t>
            </a:r>
            <a:r>
              <a:rPr lang="da-DK" dirty="0"/>
              <a:t> </a:t>
            </a:r>
            <a:r>
              <a:rPr lang="da-DK" dirty="0" err="1"/>
              <a:t>become</a:t>
            </a:r>
            <a:r>
              <a:rPr lang="da-DK" dirty="0"/>
              <a:t> more </a:t>
            </a:r>
            <a:r>
              <a:rPr lang="da-DK" dirty="0" err="1"/>
              <a:t>affordable</a:t>
            </a:r>
            <a:r>
              <a:rPr lang="da-DK" dirty="0"/>
              <a:t>.</a:t>
            </a:r>
          </a:p>
          <a:p>
            <a:endParaRPr lang="da-DK" dirty="0"/>
          </a:p>
          <a:p>
            <a:r>
              <a:rPr lang="da-DK" dirty="0"/>
              <a:t>This </a:t>
            </a:r>
            <a:r>
              <a:rPr lang="da-DK" dirty="0" err="1"/>
              <a:t>indicates</a:t>
            </a:r>
            <a:r>
              <a:rPr lang="da-DK" dirty="0"/>
              <a:t> a growing </a:t>
            </a:r>
            <a:r>
              <a:rPr lang="da-DK" dirty="0" err="1"/>
              <a:t>divide</a:t>
            </a:r>
            <a:r>
              <a:rPr lang="da-DK" dirty="0"/>
              <a:t> in </a:t>
            </a:r>
            <a:r>
              <a:rPr lang="da-DK" dirty="0" err="1"/>
              <a:t>housing</a:t>
            </a:r>
            <a:r>
              <a:rPr lang="da-DK" dirty="0"/>
              <a:t> </a:t>
            </a:r>
            <a:r>
              <a:rPr lang="da-DK" dirty="0" err="1"/>
              <a:t>accessibility</a:t>
            </a:r>
            <a:r>
              <a:rPr lang="da-DK" dirty="0"/>
              <a:t> </a:t>
            </a:r>
            <a:r>
              <a:rPr lang="da-DK" dirty="0" err="1"/>
              <a:t>across</a:t>
            </a:r>
            <a:r>
              <a:rPr lang="da-DK" dirty="0"/>
              <a:t> Denmark, </a:t>
            </a:r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wish</a:t>
            </a:r>
            <a:r>
              <a:rPr lang="da-DK" dirty="0"/>
              <a:t> to </a:t>
            </a:r>
            <a:r>
              <a:rPr lang="da-DK" dirty="0" err="1"/>
              <a:t>investigate</a:t>
            </a:r>
            <a:r>
              <a:rPr lang="da-DK" dirty="0"/>
              <a:t> </a:t>
            </a:r>
            <a:r>
              <a:rPr lang="da-DK" dirty="0" err="1"/>
              <a:t>further</a:t>
            </a:r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75B4753-361C-9EC1-5079-ACA2215C99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95BEE-8173-384D-89BD-C9DE6144B184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58989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D42094-41E8-2327-57DE-954B6185B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D828793D-AEFD-89C9-0B59-AB0264ADC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5FD8681-1556-108A-2C88-C3F76EBA3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8FA0-DB1F-3749-9D95-F1FE543C8233}" type="datetimeFigureOut">
              <a:rPr lang="da-DK" smtClean="0"/>
              <a:t>18.04.2026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504DCCF-5052-4E2F-4E10-C002B1519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CBAD1AB-E421-F8F9-3727-85127EC85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6B59-0479-0145-A65A-6F4CC369350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1436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5DAFF7-FF82-2F94-7473-D0A71B885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D580431-FBA8-AB38-20A5-13D2F522D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18DC0A4-C2DD-D760-5F27-2E474C7A6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8FA0-DB1F-3749-9D95-F1FE543C8233}" type="datetimeFigureOut">
              <a:rPr lang="da-DK" smtClean="0"/>
              <a:t>18.04.2026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8918868-1D5D-085E-10D3-C629B6316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BD4C936-14AD-6DF3-1777-02901859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6B59-0479-0145-A65A-6F4CC369350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9935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BDBF89-A856-8B17-A746-DEFD1C754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8DC81EE-F8BC-7691-FC3D-7176B7491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3AF58EB-509A-E74E-645F-7BD8CFD58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8FA0-DB1F-3749-9D95-F1FE543C8233}" type="datetimeFigureOut">
              <a:rPr lang="da-DK" smtClean="0"/>
              <a:t>18.04.2026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026EC4C-5C44-5F2C-DAFE-669ACBAD6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DE70F38-715C-5F75-B155-93C0E861B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6B59-0479-0145-A65A-6F4CC369350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24522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3D37D9-D023-1543-F1D8-6528F6BB0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AC80E57-4F22-5C6F-558D-6E495E3063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62BEEC0B-F229-6B78-5726-9DDCF61AB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DD77E6A-1093-7DB8-CF36-1478AA261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8FA0-DB1F-3749-9D95-F1FE543C8233}" type="datetimeFigureOut">
              <a:rPr lang="da-DK" smtClean="0"/>
              <a:t>18.04.2026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496AF9F-F3DE-4F39-8D75-23D33E60F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6FB8D7E-FA11-7726-1339-7A5AD488F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6B59-0479-0145-A65A-6F4CC369350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51236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C53394-AD16-B2F2-DBC2-C1B304983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A75C9E1-5DA2-8F36-F45E-36E0D6D75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26118B4D-63C1-6653-BC9A-9DF7EB18F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CB62B889-D629-99AD-2858-36B9B87B5C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43986382-CBBD-5322-32A1-D7A7BE1C4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E8C2F1C4-6F6F-55AA-FD7D-1DAE238D7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8FA0-DB1F-3749-9D95-F1FE543C8233}" type="datetimeFigureOut">
              <a:rPr lang="da-DK" smtClean="0"/>
              <a:t>18.04.2026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7C36884E-182B-4531-B92A-6632FEFD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3C2D26A4-C889-BF19-2385-77CC8BBCB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6B59-0479-0145-A65A-6F4CC369350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65716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680D07-4287-3080-E4AC-F59572000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B788F7BF-F7CE-8DE8-1B4A-970CA0D2E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8FA0-DB1F-3749-9D95-F1FE543C8233}" type="datetimeFigureOut">
              <a:rPr lang="da-DK" smtClean="0"/>
              <a:t>18.04.2026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DF914EB5-D724-ADA9-815D-E76E90E48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37A30D19-42C4-E284-9262-051E121BB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6B59-0479-0145-A65A-6F4CC369350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870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986B2D4B-70D3-17C4-BAA7-61F0ED622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8FA0-DB1F-3749-9D95-F1FE543C8233}" type="datetimeFigureOut">
              <a:rPr lang="da-DK" smtClean="0"/>
              <a:t>18.04.2026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B78DA435-D51C-1E8D-EC75-C09D29D6D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C7798E9-473D-68B0-51EC-14011BB2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6B59-0479-0145-A65A-6F4CC369350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37984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09391-7F79-8792-4BB6-3C91DBB4F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3041BEE-6B8C-F4EC-D496-DB3CE8B31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02E89CB6-37C2-F873-D3DB-0754E0C86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0F9F0DF-BB06-7479-016C-E10545EBB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8FA0-DB1F-3749-9D95-F1FE543C8233}" type="datetimeFigureOut">
              <a:rPr lang="da-DK" smtClean="0"/>
              <a:t>18.04.2026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9797299-0DD4-C834-2902-1A238A4D7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43C92E0-9027-D1BE-31F5-36CAF4FE8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6B59-0479-0145-A65A-6F4CC369350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85296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DA2B39-EC42-1DD6-AC75-01173333E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AD211956-AC00-3D0D-7795-B9831E3FB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64DAF75-BB02-EE68-B27A-767BE70A1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CA1143A-DBB5-2922-E6CB-D3661DC8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8FA0-DB1F-3749-9D95-F1FE543C8233}" type="datetimeFigureOut">
              <a:rPr lang="da-DK" smtClean="0"/>
              <a:t>18.04.2026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6568B0E-7192-37E8-0006-F9010D77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A0F21B1-89F8-C917-262F-1D35D34DD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6B59-0479-0145-A65A-6F4CC369350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5197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FCCF85-0FB3-8EE4-4265-AD7AEAF6B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67879C71-A2FC-65B3-3650-DF50912F7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1FBE18E-4DFB-8F65-AD52-675AE9241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8FA0-DB1F-3749-9D95-F1FE543C8233}" type="datetimeFigureOut">
              <a:rPr lang="da-DK" smtClean="0"/>
              <a:t>18.04.2026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4E4EDAD-513B-6185-3E95-659E66480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14E5314-EC5A-71B0-AA2B-FD25493EB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6B59-0479-0145-A65A-6F4CC369350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37842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2A0ACAA0-6908-8B7E-7AFD-88F3024420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38C30B8C-5450-6BF5-3DC2-03687BBA8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EAFC0D7-1EE2-D9CB-7D98-FAF01D139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8FA0-DB1F-3749-9D95-F1FE543C8233}" type="datetimeFigureOut">
              <a:rPr lang="da-DK" smtClean="0"/>
              <a:t>18.04.2026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C0726B9-09DB-8A2B-D728-9E243E56E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49D8D5F-4450-8BA4-4DAF-36ED711A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6B59-0479-0145-A65A-6F4CC369350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52608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F0CF28A9-066E-134C-1D86-283F5A516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7D4FD5E-BBDF-0A7F-0A8D-9BC1E23B1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FA1BBA3-22C0-B0CE-97A6-B77B2AEDA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398FA0-DB1F-3749-9D95-F1FE543C8233}" type="datetimeFigureOut">
              <a:rPr lang="da-DK" smtClean="0"/>
              <a:t>18.04.2026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9276926-5342-996E-D0D0-7BC69CE26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1A52809-C603-397B-5E5F-6AB321125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F66B59-0479-0145-A65A-6F4CC369350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18506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Billede 1">
            <a:extLst>
              <a:ext uri="{FF2B5EF4-FFF2-40B4-BE49-F238E27FC236}">
                <a16:creationId xmlns:a16="http://schemas.microsoft.com/office/drawing/2014/main" id="{9B16C5B1-7918-7C0C-7047-7D0A99A6B9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045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86E375D9-0CB7-45CA-E966-A82E23B690CC}"/>
              </a:ext>
            </a:extLst>
          </p:cNvPr>
          <p:cNvSpPr txBox="1"/>
          <p:nvPr/>
        </p:nvSpPr>
        <p:spPr>
          <a:xfrm>
            <a:off x="623195" y="5057187"/>
            <a:ext cx="8757872" cy="1200329"/>
          </a:xfrm>
          <a:prstGeom prst="rect">
            <a:avLst/>
          </a:prstGeom>
          <a:solidFill>
            <a:srgbClr val="104F6A">
              <a:alpha val="63137"/>
            </a:srgbClr>
          </a:solidFill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An investigation of the spatial divergence in housing affordability in Denmark</a:t>
            </a:r>
          </a:p>
        </p:txBody>
      </p:sp>
      <p:pic>
        <p:nvPicPr>
          <p:cNvPr id="5" name="Audio Recording 17. apr. 2026, 19.53.23">
            <a:hlinkClick r:id="" action="ppaction://media"/>
            <a:extLst>
              <a:ext uri="{FF2B5EF4-FFF2-40B4-BE49-F238E27FC236}">
                <a16:creationId xmlns:a16="http://schemas.microsoft.com/office/drawing/2014/main" id="{BB5355C5-9446-EB66-46CD-B3A62C9AA99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515601" y="5323692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75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EB5AC-14F3-7041-AF9F-203A5B4A4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086B84E1-0EFA-7E4F-EBB5-0CD30C90981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Billede 1">
            <a:extLst>
              <a:ext uri="{FF2B5EF4-FFF2-40B4-BE49-F238E27FC236}">
                <a16:creationId xmlns:a16="http://schemas.microsoft.com/office/drawing/2014/main" id="{A1EF251C-C6D0-EFA0-6948-9AD0601EE3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891" y="1606364"/>
            <a:ext cx="9111026" cy="4527792"/>
          </a:xfrm>
          <a:prstGeom prst="rect">
            <a:avLst/>
          </a:prstGeom>
        </p:spPr>
      </p:pic>
      <p:sp>
        <p:nvSpPr>
          <p:cNvPr id="3" name="Tekstfelt 2">
            <a:extLst>
              <a:ext uri="{FF2B5EF4-FFF2-40B4-BE49-F238E27FC236}">
                <a16:creationId xmlns:a16="http://schemas.microsoft.com/office/drawing/2014/main" id="{5E9B66F3-1A79-E4E0-7F21-A114F93342BE}"/>
              </a:ext>
            </a:extLst>
          </p:cNvPr>
          <p:cNvSpPr txBox="1"/>
          <p:nvPr/>
        </p:nvSpPr>
        <p:spPr>
          <a:xfrm>
            <a:off x="600891" y="559353"/>
            <a:ext cx="3735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The Central Idea</a:t>
            </a:r>
          </a:p>
        </p:txBody>
      </p:sp>
      <p:pic>
        <p:nvPicPr>
          <p:cNvPr id="7" name="Audio Recording 17. apr. 2026, 19.49.39">
            <a:hlinkClick r:id="" action="ppaction://media"/>
            <a:extLst>
              <a:ext uri="{FF2B5EF4-FFF2-40B4-BE49-F238E27FC236}">
                <a16:creationId xmlns:a16="http://schemas.microsoft.com/office/drawing/2014/main" id="{A5B0FFA4-AE3C-F2C2-37A6-6DB867E913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0956313" y="5402534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41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90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9691E-9FB2-5644-F897-3432042DE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722A85D1-CFE9-FC52-D769-392012B97A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kstfelt 1">
            <a:extLst>
              <a:ext uri="{FF2B5EF4-FFF2-40B4-BE49-F238E27FC236}">
                <a16:creationId xmlns:a16="http://schemas.microsoft.com/office/drawing/2014/main" id="{8B66DCBA-1E26-6410-AE5A-77BEDB4E9FF5}"/>
              </a:ext>
            </a:extLst>
          </p:cNvPr>
          <p:cNvSpPr txBox="1"/>
          <p:nvPr/>
        </p:nvSpPr>
        <p:spPr>
          <a:xfrm>
            <a:off x="600890" y="559353"/>
            <a:ext cx="8978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The Data and Fundamental Distributions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9AB0DDE2-DF12-F6D8-62CC-7779891DAB4F}"/>
              </a:ext>
            </a:extLst>
          </p:cNvPr>
          <p:cNvSpPr txBox="1"/>
          <p:nvPr/>
        </p:nvSpPr>
        <p:spPr>
          <a:xfrm>
            <a:off x="600891" y="1310840"/>
            <a:ext cx="44156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noProof="1">
                <a:solidFill>
                  <a:schemeClr val="bg1"/>
                </a:solidFill>
              </a:rPr>
              <a:t>Datasets used:</a:t>
            </a:r>
            <a:endParaRPr lang="en-GB" noProof="1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bg1"/>
                </a:solidFill>
              </a:rPr>
              <a:t>Housing transactions (2008–2024, ~1.5 million sales)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bg1"/>
                </a:solidFill>
              </a:rPr>
              <a:t>Municipal income data (~1666 rows)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bg1"/>
                </a:solidFill>
              </a:rPr>
              <a:t>Population data (~1666 rows)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B9B8F5C0-132D-DFD2-5D62-786D597F01C5}"/>
              </a:ext>
            </a:extLst>
          </p:cNvPr>
          <p:cNvSpPr txBox="1"/>
          <p:nvPr/>
        </p:nvSpPr>
        <p:spPr>
          <a:xfrm>
            <a:off x="600891" y="3054170"/>
            <a:ext cx="441566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noProof="1">
                <a:solidFill>
                  <a:schemeClr val="bg1"/>
                </a:solidFill>
              </a:rPr>
              <a:t>Data size:</a:t>
            </a:r>
            <a:endParaRPr lang="en-GB" noProof="1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bg1"/>
                </a:solidFill>
              </a:rPr>
              <a:t>Housing: 1,507,908 rows, 19 columns, 43 MB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bg1"/>
                </a:solidFill>
              </a:rPr>
              <a:t>Income and population: 1,666 rows, 4 columns, ~80 kB each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bg1"/>
                </a:solidFill>
              </a:rPr>
              <a:t>Combined dataset: 1,666 rows, 16 columns, 280 kB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841DCDD8-CAB8-D1B9-8387-0D04CA544B02}"/>
              </a:ext>
            </a:extLst>
          </p:cNvPr>
          <p:cNvSpPr txBox="1"/>
          <p:nvPr/>
        </p:nvSpPr>
        <p:spPr>
          <a:xfrm>
            <a:off x="600890" y="5274644"/>
            <a:ext cx="110092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noProof="1">
                <a:solidFill>
                  <a:schemeClr val="bg1"/>
                </a:solidFill>
              </a:rPr>
              <a:t>Variables:</a:t>
            </a:r>
            <a:endParaRPr lang="en-GB" noProof="1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bg1"/>
                </a:solidFill>
              </a:rPr>
              <a:t>Time range: 2008–2024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bg1"/>
                </a:solidFill>
              </a:rPr>
              <a:t>Geographic scope: All Danish municipalities (geo-data)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bg1"/>
                </a:solidFill>
              </a:rPr>
              <a:t>Variables include: Municipality, Region, Year, Price, Sqm price, Interest rate, #sales, Income, Population</a:t>
            </a:r>
          </a:p>
        </p:txBody>
      </p:sp>
      <p:pic>
        <p:nvPicPr>
          <p:cNvPr id="15" name="Billede 14">
            <a:extLst>
              <a:ext uri="{FF2B5EF4-FFF2-40B4-BE49-F238E27FC236}">
                <a16:creationId xmlns:a16="http://schemas.microsoft.com/office/drawing/2014/main" id="{767D74BC-7562-34FA-841C-BD4D7F068B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080" y="1310840"/>
            <a:ext cx="6613969" cy="4387044"/>
          </a:xfrm>
          <a:prstGeom prst="rect">
            <a:avLst/>
          </a:prstGeom>
        </p:spPr>
      </p:pic>
      <p:pic>
        <p:nvPicPr>
          <p:cNvPr id="16" name="Audio Recording 17. apr. 2026, 19.58.17">
            <a:hlinkClick r:id="" action="ppaction://media"/>
            <a:extLst>
              <a:ext uri="{FF2B5EF4-FFF2-40B4-BE49-F238E27FC236}">
                <a16:creationId xmlns:a16="http://schemas.microsoft.com/office/drawing/2014/main" id="{B068D2BF-1173-6B46-1A47-2CE56E324A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031249" y="152953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39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428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9603E-A77C-CA33-B7B0-47DD5838E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E9134C1C-9AAB-5621-D49E-B00BF591941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Billede 1">
            <a:extLst>
              <a:ext uri="{FF2B5EF4-FFF2-40B4-BE49-F238E27FC236}">
                <a16:creationId xmlns:a16="http://schemas.microsoft.com/office/drawing/2014/main" id="{0029637E-FD80-1C31-47A1-C60C348D0B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616" y="1765037"/>
            <a:ext cx="4726725" cy="2069690"/>
          </a:xfrm>
          <a:prstGeom prst="rect">
            <a:avLst/>
          </a:prstGeom>
        </p:spPr>
      </p:pic>
      <p:sp>
        <p:nvSpPr>
          <p:cNvPr id="5" name="Tekstfelt 4">
            <a:extLst>
              <a:ext uri="{FF2B5EF4-FFF2-40B4-BE49-F238E27FC236}">
                <a16:creationId xmlns:a16="http://schemas.microsoft.com/office/drawing/2014/main" id="{E54096D7-FE5C-02CD-E6DD-B56B2CEC27CF}"/>
              </a:ext>
            </a:extLst>
          </p:cNvPr>
          <p:cNvSpPr txBox="1"/>
          <p:nvPr/>
        </p:nvSpPr>
        <p:spPr>
          <a:xfrm>
            <a:off x="1282207" y="3834727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900" dirty="0" err="1">
                <a:solidFill>
                  <a:schemeClr val="bg1"/>
                </a:solidFill>
              </a:rPr>
              <a:t>https</a:t>
            </a:r>
            <a:r>
              <a:rPr lang="da-DK" sz="900" dirty="0">
                <a:solidFill>
                  <a:schemeClr val="bg1"/>
                </a:solidFill>
              </a:rPr>
              <a:t>://</a:t>
            </a:r>
            <a:r>
              <a:rPr lang="da-DK" sz="900" dirty="0" err="1">
                <a:solidFill>
                  <a:schemeClr val="bg1"/>
                </a:solidFill>
              </a:rPr>
              <a:t>www.researchgate.net</a:t>
            </a:r>
            <a:r>
              <a:rPr lang="da-DK" sz="900" dirty="0">
                <a:solidFill>
                  <a:schemeClr val="bg1"/>
                </a:solidFill>
              </a:rPr>
              <a:t>/</a:t>
            </a:r>
            <a:r>
              <a:rPr lang="da-DK" sz="900" dirty="0" err="1">
                <a:solidFill>
                  <a:schemeClr val="bg1"/>
                </a:solidFill>
              </a:rPr>
              <a:t>figure</a:t>
            </a:r>
            <a:r>
              <a:rPr lang="da-DK" sz="900" dirty="0">
                <a:solidFill>
                  <a:schemeClr val="bg1"/>
                </a:solidFill>
              </a:rPr>
              <a:t>/Martini-glass-structure_fig1_385683496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FB4DA65D-8926-7FCA-37D9-6677E194DF01}"/>
              </a:ext>
            </a:extLst>
          </p:cNvPr>
          <p:cNvSpPr txBox="1"/>
          <p:nvPr/>
        </p:nvSpPr>
        <p:spPr>
          <a:xfrm>
            <a:off x="600890" y="559353"/>
            <a:ext cx="5495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Genre and visualizations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70CC7A5C-081A-7D5F-87A9-5CBA9CA225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384" y="0"/>
            <a:ext cx="4572000" cy="6858000"/>
          </a:xfrm>
          <a:prstGeom prst="rect">
            <a:avLst/>
          </a:prstGeom>
        </p:spPr>
      </p:pic>
      <p:pic>
        <p:nvPicPr>
          <p:cNvPr id="10" name="Audio Recording 17. apr. 2026, 19.41.54">
            <a:hlinkClick r:id="" action="ppaction://media"/>
            <a:extLst>
              <a:ext uri="{FF2B5EF4-FFF2-40B4-BE49-F238E27FC236}">
                <a16:creationId xmlns:a16="http://schemas.microsoft.com/office/drawing/2014/main" id="{1FAAF719-694E-EB3A-1A40-22827773417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00890" y="5485847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59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364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70D2943-4E3A-16A6-FD0F-9CCCAC00B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D19E9D3A-F10A-E88D-3A6F-063CE5A8A8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llede 2">
            <a:extLst>
              <a:ext uri="{FF2B5EF4-FFF2-40B4-BE49-F238E27FC236}">
                <a16:creationId xmlns:a16="http://schemas.microsoft.com/office/drawing/2014/main" id="{39C94F22-1CD0-BEF5-047A-5207B9ACF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761" y="0"/>
            <a:ext cx="7206429" cy="3581288"/>
          </a:xfrm>
          <a:prstGeom prst="rect">
            <a:avLst/>
          </a:prstGeom>
        </p:spPr>
      </p:pic>
      <p:pic>
        <p:nvPicPr>
          <p:cNvPr id="2" name="Billede 1">
            <a:extLst>
              <a:ext uri="{FF2B5EF4-FFF2-40B4-BE49-F238E27FC236}">
                <a16:creationId xmlns:a16="http://schemas.microsoft.com/office/drawing/2014/main" id="{4C71EBFD-0CEE-CCDF-324F-57A6BFE608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211" y="3124424"/>
            <a:ext cx="7206429" cy="3581288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BF8CF479-077F-0CE9-9744-F2F052D9EA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69804" y="-1060188"/>
            <a:ext cx="6558565" cy="467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33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333</Words>
  <Application>Microsoft Macintosh PowerPoint</Application>
  <PresentationFormat>Widescreen</PresentationFormat>
  <Paragraphs>29</Paragraphs>
  <Slides>5</Slides>
  <Notes>5</Notes>
  <HiddenSlides>1</HiddenSlides>
  <MMClips>4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Office-tema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Nete Elisabeth Møller-Clausen</dc:creator>
  <cp:lastModifiedBy>Sandra Bjørg Rune</cp:lastModifiedBy>
  <cp:revision>18</cp:revision>
  <dcterms:created xsi:type="dcterms:W3CDTF">2026-04-15T11:34:08Z</dcterms:created>
  <dcterms:modified xsi:type="dcterms:W3CDTF">2026-04-18T09:35:38Z</dcterms:modified>
</cp:coreProperties>
</file>